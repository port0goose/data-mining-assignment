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5597-12C3-188E-2DD9-CE26F9A8A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BA248-1D89-F053-FFF9-4EFEADC8B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A5F78-1F35-2C1E-3C9C-B630B149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1C0B-96A1-34B9-693E-4B9E32EA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D37DC-780B-8B47-2BAC-51762871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0012-005D-3635-8008-2F86285E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4643B-681D-3347-0FC5-3618A04B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510E8-2275-30CA-76C0-F0305879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3EF58-E51C-3F61-A7C5-52968BF8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58EA-5B98-63E8-D58E-DA574EBE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63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F425-F480-A42D-FD32-C2314EED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C1B06-BE39-59F4-FD9B-0FF758391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66366-9105-CA69-CF79-0935C8BD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B2D58-367A-8830-F2D0-D00E80AD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3C3D6-2EBE-B563-6746-33DC069A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0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4C68-3153-D316-CACD-E0FBCCFA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4BEA-71B3-C0D4-6A15-3CF1119C5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4F8C9-00C6-963D-BE35-3E7D48101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EEFB2-D0D8-3D33-2DA9-E606D1A6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FD376-F46D-37BA-5138-E55AFE821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150AE-1378-DC2D-AEEE-17C569FE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6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82A1-CD71-A331-1DE3-BC19D7FD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380A8-30D1-9035-F527-B96438796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76D75-CA31-5817-73B7-E2B2A8D4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3B23B-B9B1-4A4E-B741-16A41DB97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57B37-878B-E27F-3402-B524EA163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772C-474E-4C77-5B85-3F996885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39CA5-E99C-DE70-57B9-1481C519A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1645F-F486-0C8A-A0A3-29252F0D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8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2394-40EA-8DFF-7918-7E0F93C1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95CE8A-BA3B-AC35-7E3D-8067ED02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ABABB-7499-33D2-DF91-ED8C38DA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A5F72-D968-E732-6141-C09C0469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70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B487C-5CA5-A9BD-11E3-4978906E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F51AA-1EE8-DFE7-5FCD-B4360C4B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9762F-B5FC-0EA3-A06E-1B17317A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9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4716-C876-9363-27DE-2A697B6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5589-A4BF-897F-CBC7-B3CECCCF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2309F-8961-F7EC-D8DD-7C7A2A5A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36C7C-CE1F-7FBF-48B7-E4F98E59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D2A0-F2D5-8F2E-CF5A-3286BF15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61FA2-ED21-3180-1DF8-2A4ABCF8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EB3A-528F-EE66-F096-7D90FDB7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2C831-8395-E1A3-2338-2661CBCBB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DB89B-46B6-D94B-7BE2-E251CC8FB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3E261-6943-E114-C266-1A587EBC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AD947-6736-C74E-8A4A-B53C3F48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AA3BA-DAB5-D0A9-5588-47024AA3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64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339B-2C2C-71A6-701B-249E6655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6507F-B40B-BCDB-4EBE-6B7E69979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E082E-828A-8D95-7E99-99ABA4EE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34466-9C88-8461-5E0F-C732BDA4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A890F-3EBC-8999-180E-A423AC5F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9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AB185-295B-1FA2-0E2F-F0ED0C0A2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F42C3-30C9-E1A3-70E4-8D1CBA17F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1C14-F5EF-091A-27AA-D80B21F9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07008-7C84-835A-4711-9BA7C7C0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100CC-5911-6A35-62D5-09A74A17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8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ACD9A-1457-AB2C-B4B5-01806706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4933D-E7B9-56A6-C2CA-9E878DB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CAED8-23EF-1DBF-3D86-68FA9C515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7A539-64AE-4ED0-A799-683AFB8D851B}" type="datetimeFigureOut">
              <a:rPr lang="en-US" smtClean="0"/>
              <a:t>02-Jan-26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8744-529C-75DE-035C-022FB3950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952C-037C-EADF-ED2F-036F74154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8228B-AE96-4733-9629-6188BCAFF7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16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ADD842-7469-481F-AEF2-DDA7D3A9A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57906-107D-9C72-A4AA-E68A2243A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8" y="637763"/>
            <a:ext cx="9889797" cy="1413144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Group 68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058847-87A2-48B5-B733-C9FC6F0FF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E1B9A-A281-85BC-603C-57E23D24B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58" y="3100284"/>
            <a:ext cx="9889793" cy="311423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Clustering-Solution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E886A-266A-45DB-B141-3271799F4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7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6D135-605F-35BF-399E-A24B99B8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E783-BC57-4C50-012A-9CBCF865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dirty="0"/>
              <a:t>Designing personalized services and marketing strategies for its diverse customer base</a:t>
            </a:r>
          </a:p>
          <a:p>
            <a:r>
              <a:rPr lang="en-US" dirty="0"/>
              <a:t>Analyze customer loyalty membership data and corresponding flight activity collected over a three-year period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44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79B80-7B06-086D-3958-001F4E71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Approach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BF93-DDAE-57FE-81F2-98A681C5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en-US" sz="2400" dirty="0"/>
              <a:t>Data-driven approach to understand customer segments</a:t>
            </a:r>
          </a:p>
          <a:p>
            <a:r>
              <a:rPr lang="en-US" sz="2400" dirty="0"/>
              <a:t>Divide the data into 3 domains: value, demographics and behavior</a:t>
            </a:r>
          </a:p>
          <a:p>
            <a:r>
              <a:rPr lang="en-US" sz="2400" dirty="0"/>
              <a:t>2 Segment approach leading to a 3x3 grid that focus on Engagement x Value</a:t>
            </a:r>
          </a:p>
        </p:txBody>
      </p:sp>
    </p:spTree>
    <p:extLst>
      <p:ext uri="{BB962C8B-B14F-4D97-AF65-F5344CB8AC3E}">
        <p14:creationId xmlns:p14="http://schemas.microsoft.com/office/powerpoint/2010/main" val="172137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1094E-3991-95D2-B334-81D8BBE5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012DEA7-FDC8-F365-56A5-CF513A4E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High Engagement – High Value :</a:t>
            </a:r>
          </a:p>
          <a:p>
            <a:pPr lvl="1"/>
            <a:r>
              <a:rPr lang="en-US" b="1" dirty="0"/>
              <a:t>Loyalty:</a:t>
            </a:r>
            <a:r>
              <a:rPr lang="en-US" dirty="0"/>
              <a:t> Exclusive tiers, experiential rewards (upgrades, partner benefits).</a:t>
            </a:r>
          </a:p>
          <a:p>
            <a:pPr lvl="1"/>
            <a:r>
              <a:rPr lang="en-US" b="1" dirty="0"/>
              <a:t>Service:</a:t>
            </a:r>
            <a:r>
              <a:rPr lang="en-US" dirty="0"/>
              <a:t> Priority services (fast-track boarding, lounge access).</a:t>
            </a:r>
          </a:p>
          <a:p>
            <a:r>
              <a:rPr lang="en-US" sz="2400" dirty="0"/>
              <a:t>Medium Engagement – High Value:</a:t>
            </a:r>
          </a:p>
          <a:p>
            <a:pPr lvl="1"/>
            <a:r>
              <a:rPr lang="en-US" b="1" dirty="0"/>
              <a:t>Marketing:</a:t>
            </a:r>
            <a:r>
              <a:rPr lang="en-US" dirty="0"/>
              <a:t> Win-back and reactivation campaigns, personalized reminders.</a:t>
            </a:r>
          </a:p>
          <a:p>
            <a:pPr lvl="1"/>
            <a:r>
              <a:rPr lang="en-US" b="1" dirty="0"/>
              <a:t>Service:</a:t>
            </a:r>
            <a:r>
              <a:rPr lang="en-US" dirty="0"/>
              <a:t> Dedicated service agents or outreach when inactivity increases.</a:t>
            </a:r>
            <a:endParaRPr lang="en-US" sz="2000" dirty="0"/>
          </a:p>
          <a:p>
            <a:r>
              <a:rPr lang="en-US" sz="2400" dirty="0"/>
              <a:t>Medium Engagement – Medium Value:</a:t>
            </a:r>
          </a:p>
          <a:p>
            <a:pPr lvl="1"/>
            <a:r>
              <a:rPr lang="en-US" b="1" dirty="0"/>
              <a:t>Marketing:</a:t>
            </a:r>
            <a:r>
              <a:rPr lang="en-US" dirty="0"/>
              <a:t> Campaign-based promotions and lifecycle communication.</a:t>
            </a:r>
          </a:p>
          <a:p>
            <a:pPr lvl="1"/>
            <a:r>
              <a:rPr lang="en-US" b="1" dirty="0"/>
              <a:t>Service:</a:t>
            </a:r>
            <a:r>
              <a:rPr lang="en-US" dirty="0"/>
              <a:t> Standard service with optional paid enhancements.</a:t>
            </a:r>
            <a:endParaRPr lang="en-US" sz="2000" dirty="0"/>
          </a:p>
          <a:p>
            <a:r>
              <a:rPr lang="en-US" sz="2400" dirty="0"/>
              <a:t>Low Engagement – High Value:</a:t>
            </a:r>
          </a:p>
          <a:p>
            <a:pPr lvl="1"/>
            <a:r>
              <a:rPr lang="en-US" b="1" dirty="0"/>
              <a:t>Marketing:</a:t>
            </a:r>
            <a:r>
              <a:rPr lang="en-US" dirty="0"/>
              <a:t> Personalized reactivation offers and feedback surveys.</a:t>
            </a:r>
          </a:p>
          <a:p>
            <a:pPr lvl="1"/>
            <a:r>
              <a:rPr lang="en-US" b="1" dirty="0"/>
              <a:t>Service:</a:t>
            </a:r>
            <a:r>
              <a:rPr lang="en-US" dirty="0"/>
              <a:t> Concierge outreach or targeted retention calls.</a:t>
            </a:r>
          </a:p>
          <a:p>
            <a:pPr lvl="1"/>
            <a:r>
              <a:rPr lang="en-US" b="1" dirty="0"/>
              <a:t>Loyalty:</a:t>
            </a:r>
            <a:r>
              <a:rPr lang="en-US" dirty="0"/>
              <a:t> “Welcome back” bonuses and tier recovery mechanisms.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79514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180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Group 68</vt:lpstr>
      <vt:lpstr>Challenge</vt:lpstr>
      <vt:lpstr>Our Approach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Diogo Cardoso Lessa Carmo dos Reis</dc:creator>
  <cp:lastModifiedBy>Diogo Cardoso Lessa Carmo dos Reis</cp:lastModifiedBy>
  <cp:revision>2</cp:revision>
  <dcterms:created xsi:type="dcterms:W3CDTF">2026-01-02T19:06:21Z</dcterms:created>
  <dcterms:modified xsi:type="dcterms:W3CDTF">2026-01-02T19:56:34Z</dcterms:modified>
</cp:coreProperties>
</file>